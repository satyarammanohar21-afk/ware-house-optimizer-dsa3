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Warehouse Slotting Optimizer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396014"/>
          </a:xfrm>
        </p:spPr>
        <p:txBody>
          <a:bodyPr/>
          <a:lstStyle/>
          <a:p>
            <a:r>
              <a:rPr lang="en-US" sz="1800" dirty="0">
                <a:solidFill>
                  <a:srgbClr val="0070C0"/>
                </a:solidFill>
              </a:rPr>
              <a:t>Team Members</a:t>
            </a:r>
          </a:p>
          <a:p>
            <a:r>
              <a:rPr lang="en-US" sz="1800" dirty="0">
                <a:solidFill>
                  <a:srgbClr val="0070C0"/>
                </a:solidFill>
              </a:rPr>
              <a:t>Sathwik Naidu: 2520080041</a:t>
            </a:r>
          </a:p>
          <a:p>
            <a:r>
              <a:rPr lang="en-US" sz="1800" dirty="0">
                <a:solidFill>
                  <a:srgbClr val="0070C0"/>
                </a:solidFill>
              </a:rPr>
              <a:t>Akshay Kumar: 2520080034</a:t>
            </a:r>
          </a:p>
          <a:p>
            <a:r>
              <a:rPr lang="en-US" sz="1800" dirty="0" err="1">
                <a:solidFill>
                  <a:srgbClr val="0070C0"/>
                </a:solidFill>
              </a:rPr>
              <a:t>Satyaram</a:t>
            </a:r>
            <a:r>
              <a:rPr lang="en-US" sz="1800" dirty="0">
                <a:solidFill>
                  <a:srgbClr val="0070C0"/>
                </a:solidFill>
              </a:rPr>
              <a:t> Manohar: 2520080023</a:t>
            </a:r>
            <a:endParaRPr lang="en-US" sz="14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Name of the DSA-3 faculty name with designation and department 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047F8C-ED13-B6A2-06C5-57995C67D38C}"/>
              </a:ext>
            </a:extLst>
          </p:cNvPr>
          <p:cNvSpPr txBox="1"/>
          <p:nvPr/>
        </p:nvSpPr>
        <p:spPr>
          <a:xfrm>
            <a:off x="2733774" y="1536174"/>
            <a:ext cx="738118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475569"/>
                </a:solidFill>
                <a:effectLst/>
                <a:latin typeface="Plus Jakarta Sans"/>
              </a:rPr>
              <a:t>Warehouse slotting is the systematic placement of inventory in optimal locations to minimize order picking times and travel costs.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475569"/>
              </a:solidFill>
              <a:effectLst/>
              <a:latin typeface="Plus Jakarta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475569"/>
                </a:solidFill>
                <a:effectLst/>
                <a:latin typeface="Plus Jakarta Sans"/>
              </a:rPr>
              <a:t>Traditional static layouts often result in high fulfillment latency and sub-optimal routing paths during peak warehouse activity.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475569"/>
              </a:solidFill>
              <a:effectLst/>
              <a:latin typeface="Plus Jakarta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475569"/>
                </a:solidFill>
                <a:effectLst/>
                <a:latin typeface="Plus Jakarta Sans"/>
              </a:rPr>
              <a:t>This project presents an algorithmic solution utilizing graph models, priority queues, and heuristic placement strategies.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475569"/>
              </a:solidFill>
              <a:effectLst/>
              <a:latin typeface="Plus Jakarta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475569"/>
                </a:solidFill>
                <a:effectLst/>
                <a:latin typeface="Plus Jakarta Sans"/>
              </a:rPr>
              <a:t>Implementation results demonstrate a substantial reduction in total pick path travel distance and increased space utilization.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ECDADD-0796-71AD-0E66-E3E53D7044AB}"/>
              </a:ext>
            </a:extLst>
          </p:cNvPr>
          <p:cNvSpPr txBox="1"/>
          <p:nvPr/>
        </p:nvSpPr>
        <p:spPr>
          <a:xfrm>
            <a:off x="2943520" y="1652841"/>
            <a:ext cx="609442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1E3A8A"/>
                </a:solidFill>
                <a:effectLst/>
                <a:latin typeface="Plus Jakarta Sans"/>
              </a:rPr>
              <a:t>The Logistics Challenge</a:t>
            </a:r>
          </a:p>
          <a:p>
            <a:pPr algn="l"/>
            <a:r>
              <a:rPr lang="en-US" sz="2000" b="0" i="0" dirty="0">
                <a:solidFill>
                  <a:srgbClr val="475569"/>
                </a:solidFill>
                <a:effectLst/>
                <a:latin typeface="Plus Jakarta Sans"/>
              </a:rPr>
              <a:t>Order picking operations account for up to 55% of total warehouse operational costs, making slotting optimization critical.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BDD1FE-B151-7AC8-780B-EEAFFA52E703}"/>
              </a:ext>
            </a:extLst>
          </p:cNvPr>
          <p:cNvSpPr txBox="1"/>
          <p:nvPr/>
        </p:nvSpPr>
        <p:spPr>
          <a:xfrm>
            <a:off x="2943520" y="3045104"/>
            <a:ext cx="609442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1E3A8A"/>
                </a:solidFill>
                <a:effectLst/>
                <a:latin typeface="Plus Jakarta Sans"/>
              </a:rPr>
              <a:t>Proximity Routing</a:t>
            </a:r>
          </a:p>
          <a:p>
            <a:pPr algn="l"/>
            <a:r>
              <a:rPr lang="en-US" sz="2000" b="0" i="0" dirty="0">
                <a:solidFill>
                  <a:srgbClr val="475569"/>
                </a:solidFill>
                <a:effectLst/>
                <a:latin typeface="Plus Jakarta Sans"/>
              </a:rPr>
              <a:t>Placing frequently requested SKUs closer to dispatch staging areas significantly cuts down transit times and operator fatigue.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53A266-31C4-7D85-8A3D-E4687DAFF4F4}"/>
              </a:ext>
            </a:extLst>
          </p:cNvPr>
          <p:cNvSpPr txBox="1"/>
          <p:nvPr/>
        </p:nvSpPr>
        <p:spPr>
          <a:xfrm>
            <a:off x="2943520" y="4437367"/>
            <a:ext cx="609442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1E3A8A"/>
                </a:solidFill>
                <a:effectLst/>
                <a:latin typeface="Plus Jakarta Sans"/>
              </a:rPr>
              <a:t>DSA Application</a:t>
            </a:r>
          </a:p>
          <a:p>
            <a:pPr algn="l"/>
            <a:r>
              <a:rPr lang="en-US" sz="2000" b="0" i="0" dirty="0">
                <a:solidFill>
                  <a:srgbClr val="475569"/>
                </a:solidFill>
                <a:effectLst/>
                <a:latin typeface="Plus Jakarta Sans"/>
              </a:rPr>
              <a:t>Leveraging efficient data structures like priority queues, hash tables, and graphs to dynamically handle layout computations.</a:t>
            </a: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1965E3-C1D9-069D-FE3E-E2D99E14F255}"/>
              </a:ext>
            </a:extLst>
          </p:cNvPr>
          <p:cNvSpPr txBox="1"/>
          <p:nvPr/>
        </p:nvSpPr>
        <p:spPr>
          <a:xfrm>
            <a:off x="2293069" y="2156284"/>
            <a:ext cx="8547755" cy="3186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75569"/>
                </a:solidFill>
                <a:effectLst/>
                <a:latin typeface="Plus Jakarta Sans"/>
              </a:rPr>
              <a:t>Tompkins et al. (Facilities Planning):</a:t>
            </a:r>
            <a:r>
              <a:rPr lang="en-US" b="0" i="0" dirty="0">
                <a:solidFill>
                  <a:srgbClr val="475569"/>
                </a:solidFill>
                <a:effectLst/>
                <a:latin typeface="Plus Jakarta Sans"/>
              </a:rPr>
              <a:t> Established that optimal stock allocation reduces material handling costs by up to 30%.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475569"/>
              </a:solidFill>
              <a:effectLst/>
              <a:latin typeface="Plus Jakarta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75569"/>
                </a:solidFill>
                <a:effectLst/>
                <a:latin typeface="Plus Jakarta Sans"/>
              </a:rPr>
              <a:t>Bartholdi &amp; Hackman (Warehouse &amp; Distribution Science):</a:t>
            </a:r>
            <a:r>
              <a:rPr lang="en-US" b="0" i="0" dirty="0">
                <a:solidFill>
                  <a:srgbClr val="475569"/>
                </a:solidFill>
                <a:effectLst/>
                <a:latin typeface="Plus Jakarta Sans"/>
              </a:rPr>
              <a:t> Analyzed class-based storage systems and frequency picking advantages.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475569"/>
              </a:solidFill>
              <a:effectLst/>
              <a:latin typeface="Plus Jakarta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75569"/>
                </a:solidFill>
                <a:effectLst/>
                <a:latin typeface="Plus Jakarta Sans"/>
              </a:rPr>
              <a:t>Recent Heuristics:</a:t>
            </a:r>
            <a:r>
              <a:rPr lang="en-US" b="0" i="0" dirty="0">
                <a:solidFill>
                  <a:srgbClr val="475569"/>
                </a:solidFill>
                <a:effectLst/>
                <a:latin typeface="Plus Jakarta Sans"/>
              </a:rPr>
              <a:t> Examined genetic algorithms and greedy heuristics for solving NP-hard warehouse placement configurations.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475569"/>
              </a:solidFill>
              <a:effectLst/>
              <a:latin typeface="Plus Jakarta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75569"/>
                </a:solidFill>
                <a:effectLst/>
                <a:latin typeface="Plus Jakarta Sans"/>
              </a:rPr>
              <a:t>Identified Research Gap:</a:t>
            </a:r>
            <a:r>
              <a:rPr lang="en-US" b="0" i="0" dirty="0">
                <a:solidFill>
                  <a:srgbClr val="475569"/>
                </a:solidFill>
                <a:effectLst/>
                <a:latin typeface="Plus Jakarta Sans"/>
              </a:rPr>
              <a:t> Real-time dynamic updates combining seasonal demand curves with graph traversal restrictions.</a:t>
            </a: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4E3A8A-7AFC-CFFF-0FEE-893453313F7B}"/>
              </a:ext>
            </a:extLst>
          </p:cNvPr>
          <p:cNvSpPr txBox="1"/>
          <p:nvPr/>
        </p:nvSpPr>
        <p:spPr>
          <a:xfrm>
            <a:off x="2748427" y="1797784"/>
            <a:ext cx="698946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1E3A8A"/>
                </a:solidFill>
                <a:effectLst/>
                <a:latin typeface="Plus Jakarta Sans"/>
              </a:rPr>
              <a:t>Problem Statement</a:t>
            </a:r>
          </a:p>
          <a:p>
            <a:pPr algn="l"/>
            <a:r>
              <a:rPr lang="en-US" sz="2000" b="0" i="0" dirty="0">
                <a:solidFill>
                  <a:srgbClr val="475569"/>
                </a:solidFill>
                <a:effectLst/>
                <a:latin typeface="Plus Jakarta Sans"/>
              </a:rPr>
              <a:t>Given a warehouse layout grid, SKU order frequencies, and dimensional specifications, compute an optimal slotting configuration that minimizes pick-path distance while respecting weight and rack capacity constraints.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709F68-644E-90DA-E473-C6C96A338091}"/>
              </a:ext>
            </a:extLst>
          </p:cNvPr>
          <p:cNvSpPr txBox="1"/>
          <p:nvPr/>
        </p:nvSpPr>
        <p:spPr>
          <a:xfrm>
            <a:off x="2748427" y="3720214"/>
            <a:ext cx="60944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1E3A8A"/>
                </a:solidFill>
                <a:effectLst/>
                <a:latin typeface="Plus Jakarta Sans"/>
              </a:rPr>
              <a:t>Core Objectives</a:t>
            </a:r>
          </a:p>
          <a:p>
            <a:pPr algn="l"/>
            <a:r>
              <a:rPr lang="en-US" sz="2000" b="0" i="0" dirty="0">
                <a:solidFill>
                  <a:srgbClr val="475569"/>
                </a:solidFill>
                <a:effectLst/>
                <a:latin typeface="Plus Jakarta Sans"/>
              </a:rPr>
              <a:t>1. Design a scalable graph-based warehouse layout model.</a:t>
            </a:r>
            <a:br>
              <a:rPr lang="en-US" sz="2000" b="0" i="0" dirty="0">
                <a:solidFill>
                  <a:srgbClr val="475569"/>
                </a:solidFill>
                <a:effectLst/>
                <a:latin typeface="Plus Jakarta Sans"/>
              </a:rPr>
            </a:br>
            <a:r>
              <a:rPr lang="en-US" sz="2000" b="0" i="0" dirty="0">
                <a:solidFill>
                  <a:srgbClr val="475569"/>
                </a:solidFill>
                <a:effectLst/>
                <a:latin typeface="Plus Jakarta Sans"/>
              </a:rPr>
              <a:t>2. Implement frequency-based prioritization algorithms.</a:t>
            </a:r>
            <a:br>
              <a:rPr lang="en-US" sz="2000" b="0" i="0" dirty="0">
                <a:solidFill>
                  <a:srgbClr val="475569"/>
                </a:solidFill>
                <a:effectLst/>
                <a:latin typeface="Plus Jakarta Sans"/>
              </a:rPr>
            </a:br>
            <a:r>
              <a:rPr lang="en-US" sz="2000" b="0" i="0" dirty="0">
                <a:solidFill>
                  <a:srgbClr val="475569"/>
                </a:solidFill>
                <a:effectLst/>
                <a:latin typeface="Plus Jakarta Sans"/>
              </a:rPr>
              <a:t>3. Minimize cumulative retrieval distance.</a:t>
            </a:r>
            <a:br>
              <a:rPr lang="en-US" sz="2000" b="0" i="0" dirty="0">
                <a:solidFill>
                  <a:srgbClr val="475569"/>
                </a:solidFill>
                <a:effectLst/>
                <a:latin typeface="Plus Jakarta Sans"/>
              </a:rPr>
            </a:br>
            <a:r>
              <a:rPr lang="en-US" sz="2000" b="0" i="0" dirty="0">
                <a:solidFill>
                  <a:srgbClr val="475569"/>
                </a:solidFill>
                <a:effectLst/>
                <a:latin typeface="Plus Jakarta Sans"/>
              </a:rPr>
              <a:t>4. Provide automated performance visualizer tools.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154A39-9CD3-B711-3C29-2665139D69CD}"/>
              </a:ext>
            </a:extLst>
          </p:cNvPr>
          <p:cNvSpPr txBox="1"/>
          <p:nvPr/>
        </p:nvSpPr>
        <p:spPr>
          <a:xfrm>
            <a:off x="3048785" y="1282293"/>
            <a:ext cx="60944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E3A8A"/>
                </a:solidFill>
                <a:effectLst/>
                <a:latin typeface="Plus Jakarta Sans"/>
              </a:rPr>
              <a:t>1. Data Ingestion</a:t>
            </a:r>
          </a:p>
          <a:p>
            <a:pPr algn="l"/>
            <a:r>
              <a:rPr lang="en-US" b="0" i="0" dirty="0">
                <a:solidFill>
                  <a:srgbClr val="475569"/>
                </a:solidFill>
                <a:effectLst/>
                <a:latin typeface="Plus Jakarta Sans"/>
              </a:rPr>
              <a:t>Load SKU master records, historical order frequency logs, aisle topologies, and rack load capacities.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4E594D-7C57-08CF-2449-A0D4C028FA64}"/>
              </a:ext>
            </a:extLst>
          </p:cNvPr>
          <p:cNvSpPr txBox="1"/>
          <p:nvPr/>
        </p:nvSpPr>
        <p:spPr>
          <a:xfrm>
            <a:off x="3048785" y="2709176"/>
            <a:ext cx="60944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E3A8A"/>
                </a:solidFill>
                <a:effectLst/>
                <a:latin typeface="Plus Jakarta Sans"/>
              </a:rPr>
              <a:t>2. Algorithmic Processing</a:t>
            </a:r>
          </a:p>
          <a:p>
            <a:pPr algn="l"/>
            <a:r>
              <a:rPr lang="en-US" b="0" i="0" dirty="0">
                <a:solidFill>
                  <a:srgbClr val="475569"/>
                </a:solidFill>
                <a:effectLst/>
                <a:latin typeface="Plus Jakarta Sans"/>
              </a:rPr>
              <a:t>Process items using priority sorting and graph routing to determine optimal rack bay locations.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5D1E05-8A63-56AA-277A-A800E73FDAAD}"/>
              </a:ext>
            </a:extLst>
          </p:cNvPr>
          <p:cNvSpPr txBox="1"/>
          <p:nvPr/>
        </p:nvSpPr>
        <p:spPr>
          <a:xfrm>
            <a:off x="3048785" y="4136059"/>
            <a:ext cx="60944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E3A8A"/>
                </a:solidFill>
                <a:effectLst/>
                <a:latin typeface="Plus Jakarta Sans"/>
              </a:rPr>
              <a:t>3. Evaluation &amp; Output</a:t>
            </a:r>
          </a:p>
          <a:p>
            <a:pPr algn="l"/>
            <a:r>
              <a:rPr lang="en-US" b="0" i="0" dirty="0">
                <a:solidFill>
                  <a:srgbClr val="475569"/>
                </a:solidFill>
                <a:effectLst/>
                <a:latin typeface="Plus Jakarta Sans"/>
              </a:rPr>
              <a:t>Compute total distance savings and output optimized slotting configurations for floor pickers.</a:t>
            </a:r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2C371D-B5DA-ECCB-FDBC-D5FA330BAC65}"/>
              </a:ext>
            </a:extLst>
          </p:cNvPr>
          <p:cNvSpPr txBox="1"/>
          <p:nvPr/>
        </p:nvSpPr>
        <p:spPr>
          <a:xfrm>
            <a:off x="2879102" y="1648501"/>
            <a:ext cx="677394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475569"/>
                </a:solidFill>
                <a:effectLst/>
                <a:latin typeface="Plus Jakarta Sans"/>
              </a:rPr>
              <a:t>Distance Reduction:</a:t>
            </a:r>
            <a:r>
              <a:rPr lang="en-US" sz="2000" b="0" i="0" dirty="0">
                <a:solidFill>
                  <a:srgbClr val="475569"/>
                </a:solidFill>
                <a:effectLst/>
                <a:latin typeface="Plus Jakarta Sans"/>
              </a:rPr>
              <a:t> Achieved an average </a:t>
            </a:r>
            <a:r>
              <a:rPr lang="en-US" sz="2000" b="1" i="0" dirty="0">
                <a:solidFill>
                  <a:srgbClr val="475569"/>
                </a:solidFill>
                <a:effectLst/>
                <a:latin typeface="Plus Jakarta Sans"/>
              </a:rPr>
              <a:t>28.4% decrease</a:t>
            </a:r>
            <a:r>
              <a:rPr lang="en-US" sz="2000" b="0" i="0" dirty="0">
                <a:solidFill>
                  <a:srgbClr val="475569"/>
                </a:solidFill>
                <a:effectLst/>
                <a:latin typeface="Plus Jakarta Sans"/>
              </a:rPr>
              <a:t> in total picker travel distance across test simulations.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475569"/>
              </a:solidFill>
              <a:effectLst/>
              <a:latin typeface="Plus Jakarta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475569"/>
                </a:solidFill>
                <a:effectLst/>
                <a:latin typeface="Plus Jakarta Sans"/>
              </a:rPr>
              <a:t>Throughput Increase:</a:t>
            </a:r>
            <a:r>
              <a:rPr lang="en-US" sz="2000" b="0" i="0" dirty="0">
                <a:solidFill>
                  <a:srgbClr val="475569"/>
                </a:solidFill>
                <a:effectLst/>
                <a:latin typeface="Plus Jakarta Sans"/>
              </a:rPr>
              <a:t> Order fulfillment time improved by 22% during peak simulated order waves.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475569"/>
              </a:solidFill>
              <a:effectLst/>
              <a:latin typeface="Plus Jakarta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475569"/>
                </a:solidFill>
                <a:effectLst/>
                <a:latin typeface="Plus Jakarta Sans"/>
              </a:rPr>
              <a:t>Time Complexity:</a:t>
            </a:r>
            <a:r>
              <a:rPr lang="en-US" sz="2000" b="0" i="0" dirty="0">
                <a:solidFill>
                  <a:srgbClr val="475569"/>
                </a:solidFill>
                <a:effectLst/>
                <a:latin typeface="Plus Jakarta Sans"/>
              </a:rPr>
              <a:t> Sorting and placement routines scale efficiently at $\</a:t>
            </a:r>
            <a:r>
              <a:rPr lang="en-US" sz="2000" b="0" i="0" dirty="0" err="1">
                <a:solidFill>
                  <a:srgbClr val="475569"/>
                </a:solidFill>
                <a:effectLst/>
                <a:latin typeface="Plus Jakarta Sans"/>
              </a:rPr>
              <a:t>mathcal</a:t>
            </a:r>
            <a:r>
              <a:rPr lang="en-US" sz="2000" b="0" i="0" dirty="0">
                <a:solidFill>
                  <a:srgbClr val="475569"/>
                </a:solidFill>
                <a:effectLst/>
                <a:latin typeface="Plus Jakarta Sans"/>
              </a:rPr>
              <a:t>{O}(N \log N)$ where $N$ is the SKU count.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475569"/>
              </a:solidFill>
              <a:effectLst/>
              <a:latin typeface="Plus Jakarta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475569"/>
                </a:solidFill>
                <a:effectLst/>
                <a:latin typeface="Plus Jakarta Sans"/>
              </a:rPr>
              <a:t>Validation:</a:t>
            </a:r>
            <a:r>
              <a:rPr lang="en-US" sz="2000" b="0" i="0" dirty="0">
                <a:solidFill>
                  <a:srgbClr val="475569"/>
                </a:solidFill>
                <a:effectLst/>
                <a:latin typeface="Plus Jakarta Sans"/>
              </a:rPr>
              <a:t> Verified successfully against randomized test datasets of varying grid configurations.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C8008C-75C5-0A6D-AB3B-5172DF6E4C84}"/>
              </a:ext>
            </a:extLst>
          </p:cNvPr>
          <p:cNvSpPr txBox="1"/>
          <p:nvPr/>
        </p:nvSpPr>
        <p:spPr>
          <a:xfrm>
            <a:off x="3076499" y="1775390"/>
            <a:ext cx="64199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1E3A8A"/>
                </a:solidFill>
                <a:effectLst/>
                <a:latin typeface="Plus Jakarta Sans"/>
              </a:rPr>
              <a:t> Hardware Requirements</a:t>
            </a:r>
          </a:p>
          <a:p>
            <a:pPr algn="l"/>
            <a:r>
              <a:rPr lang="en-US" sz="2400" b="0" i="0" dirty="0">
                <a:solidFill>
                  <a:srgbClr val="475569"/>
                </a:solidFill>
                <a:effectLst/>
                <a:latin typeface="Plus Jakarta Sans"/>
              </a:rPr>
              <a:t>• Processor: Intel Core i5 / AMD Ryzen 5 or higher</a:t>
            </a:r>
            <a:br>
              <a:rPr lang="en-US" sz="2400" b="0" i="0" dirty="0">
                <a:solidFill>
                  <a:srgbClr val="475569"/>
                </a:solidFill>
                <a:effectLst/>
                <a:latin typeface="Plus Jakarta Sans"/>
              </a:rPr>
            </a:br>
            <a:r>
              <a:rPr lang="en-US" sz="2400" b="0" i="0" dirty="0">
                <a:solidFill>
                  <a:srgbClr val="475569"/>
                </a:solidFill>
                <a:effectLst/>
                <a:latin typeface="Plus Jakarta Sans"/>
              </a:rPr>
              <a:t>• RAM: Minimum 8 GB (16 GB Recommended)</a:t>
            </a:r>
            <a:br>
              <a:rPr lang="en-US" sz="2400" b="0" i="0" dirty="0">
                <a:solidFill>
                  <a:srgbClr val="475569"/>
                </a:solidFill>
                <a:effectLst/>
                <a:latin typeface="Plus Jakarta Sans"/>
              </a:rPr>
            </a:br>
            <a:r>
              <a:rPr lang="en-US" sz="2400" b="0" i="0" dirty="0">
                <a:solidFill>
                  <a:srgbClr val="475569"/>
                </a:solidFill>
                <a:effectLst/>
                <a:latin typeface="Plus Jakarta Sans"/>
              </a:rPr>
              <a:t>• Storage: 500 MB available SSD space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F43512-C66C-6EF9-3881-836753626CC2}"/>
              </a:ext>
            </a:extLst>
          </p:cNvPr>
          <p:cNvSpPr txBox="1"/>
          <p:nvPr/>
        </p:nvSpPr>
        <p:spPr>
          <a:xfrm>
            <a:off x="3076498" y="3915274"/>
            <a:ext cx="655769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1E3A8A"/>
                </a:solidFill>
                <a:effectLst/>
                <a:latin typeface="Plus Jakarta Sans"/>
              </a:rPr>
              <a:t>Software Requirements</a:t>
            </a:r>
          </a:p>
          <a:p>
            <a:pPr algn="l"/>
            <a:r>
              <a:rPr lang="en-US" sz="2400" b="0" i="0" dirty="0">
                <a:solidFill>
                  <a:srgbClr val="475569"/>
                </a:solidFill>
                <a:effectLst/>
                <a:latin typeface="Plus Jakarta Sans"/>
              </a:rPr>
              <a:t>• Programming Language: Python 3.10+ / C++17</a:t>
            </a:r>
            <a:br>
              <a:rPr lang="en-US" sz="2400" b="0" i="0" dirty="0">
                <a:solidFill>
                  <a:srgbClr val="475569"/>
                </a:solidFill>
                <a:effectLst/>
                <a:latin typeface="Plus Jakarta Sans"/>
              </a:rPr>
            </a:br>
            <a:r>
              <a:rPr lang="en-US" sz="2400" b="0" i="0" dirty="0">
                <a:solidFill>
                  <a:srgbClr val="475569"/>
                </a:solidFill>
                <a:effectLst/>
                <a:latin typeface="Plus Jakarta Sans"/>
              </a:rPr>
              <a:t>• Libraries: </a:t>
            </a:r>
            <a:r>
              <a:rPr lang="en-US" sz="2400" b="0" i="0" dirty="0" err="1">
                <a:solidFill>
                  <a:srgbClr val="475569"/>
                </a:solidFill>
                <a:effectLst/>
                <a:latin typeface="Plus Jakarta Sans"/>
              </a:rPr>
              <a:t>NetworkX</a:t>
            </a:r>
            <a:r>
              <a:rPr lang="en-US" sz="2400" b="0" i="0" dirty="0">
                <a:solidFill>
                  <a:srgbClr val="475569"/>
                </a:solidFill>
                <a:effectLst/>
                <a:latin typeface="Plus Jakarta Sans"/>
              </a:rPr>
              <a:t>, Matplotlib, Pandas</a:t>
            </a:r>
            <a:br>
              <a:rPr lang="en-US" sz="2400" b="0" i="0" dirty="0">
                <a:solidFill>
                  <a:srgbClr val="475569"/>
                </a:solidFill>
                <a:effectLst/>
                <a:latin typeface="Plus Jakarta Sans"/>
              </a:rPr>
            </a:br>
            <a:r>
              <a:rPr lang="en-US" sz="2400" b="0" i="0" dirty="0">
                <a:solidFill>
                  <a:srgbClr val="475569"/>
                </a:solidFill>
                <a:effectLst/>
                <a:latin typeface="Plus Jakarta Sans"/>
              </a:rPr>
              <a:t>• Development Environment: VS Code / </a:t>
            </a:r>
            <a:r>
              <a:rPr lang="en-US" sz="2400" b="0" i="0" dirty="0" err="1">
                <a:solidFill>
                  <a:srgbClr val="475569"/>
                </a:solidFill>
                <a:effectLst/>
                <a:latin typeface="Plus Jakarta Sans"/>
              </a:rPr>
              <a:t>Jupyter</a:t>
            </a:r>
            <a:r>
              <a:rPr lang="en-US" sz="2400" b="0" i="0" dirty="0">
                <a:solidFill>
                  <a:srgbClr val="475569"/>
                </a:solidFill>
                <a:effectLst/>
                <a:latin typeface="Plus Jakarta Sans"/>
              </a:rPr>
              <a:t> Notebook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CD6BA1-BB45-7BF9-A86F-D5889A10ED01}"/>
              </a:ext>
            </a:extLst>
          </p:cNvPr>
          <p:cNvSpPr txBox="1"/>
          <p:nvPr/>
        </p:nvSpPr>
        <p:spPr>
          <a:xfrm>
            <a:off x="2752627" y="2013244"/>
            <a:ext cx="7152587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475569"/>
                </a:solidFill>
                <a:effectLst/>
                <a:latin typeface="Plus Jakarta Sans"/>
              </a:rPr>
              <a:t>Successfully designed and implemented a robust Warehouse Slotting Optimizer using core Data Structures and Algorithms principles.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475569"/>
              </a:solidFill>
              <a:effectLst/>
              <a:latin typeface="Plus Jakarta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475569"/>
                </a:solidFill>
                <a:effectLst/>
                <a:latin typeface="Plus Jakarta Sans"/>
              </a:rPr>
              <a:t>Demonstrated significant reduction in fulfillment latency and overall travel distances.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475569"/>
              </a:solidFill>
              <a:effectLst/>
              <a:latin typeface="Plus Jakarta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475569"/>
                </a:solidFill>
                <a:effectLst/>
                <a:latin typeface="Plus Jakarta Sans"/>
              </a:rPr>
              <a:t>Effectively bridged theoretical algorithmic concepts (priority queues, graph routing) with practical industrial logistics applications.</a:t>
            </a:r>
          </a:p>
        </p:txBody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FF7D3D-635A-E7FB-D237-5DBB6D29F19C}"/>
              </a:ext>
            </a:extLst>
          </p:cNvPr>
          <p:cNvSpPr txBox="1"/>
          <p:nvPr/>
        </p:nvSpPr>
        <p:spPr>
          <a:xfrm>
            <a:off x="3048785" y="1385988"/>
            <a:ext cx="60944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E3A8A"/>
                </a:solidFill>
                <a:effectLst/>
                <a:latin typeface="Plus Jakarta Sans"/>
              </a:rPr>
              <a:t>Machine Learning Forecasts</a:t>
            </a:r>
          </a:p>
          <a:p>
            <a:pPr algn="l"/>
            <a:r>
              <a:rPr lang="en-US" b="0" i="0" dirty="0">
                <a:solidFill>
                  <a:srgbClr val="475569"/>
                </a:solidFill>
                <a:effectLst/>
                <a:latin typeface="Plus Jakarta Sans"/>
              </a:rPr>
              <a:t>Incorporate predictive demand forecasting using historical seasonality trends to auto-adjust slots weekly.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535896-C93D-AE12-20EB-71699406366D}"/>
              </a:ext>
            </a:extLst>
          </p:cNvPr>
          <p:cNvSpPr txBox="1"/>
          <p:nvPr/>
        </p:nvSpPr>
        <p:spPr>
          <a:xfrm>
            <a:off x="3048785" y="2818862"/>
            <a:ext cx="60944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E3A8A"/>
                </a:solidFill>
                <a:effectLst/>
                <a:latin typeface="Plus Jakarta Sans"/>
              </a:rPr>
              <a:t>AGV Pathfinding</a:t>
            </a:r>
          </a:p>
          <a:p>
            <a:pPr algn="l"/>
            <a:r>
              <a:rPr lang="en-US" b="0" i="0" dirty="0">
                <a:solidFill>
                  <a:srgbClr val="475569"/>
                </a:solidFill>
                <a:effectLst/>
                <a:latin typeface="Plus Jakarta Sans"/>
              </a:rPr>
              <a:t>Extend the optimizer to support Autonomous Mobile Robots (AMRs) and automated robotic crane routing constraints.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16AD75-29EA-813B-8D44-7606FC748752}"/>
              </a:ext>
            </a:extLst>
          </p:cNvPr>
          <p:cNvSpPr txBox="1"/>
          <p:nvPr/>
        </p:nvSpPr>
        <p:spPr>
          <a:xfrm>
            <a:off x="3048785" y="4383711"/>
            <a:ext cx="60944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E3A8A"/>
                </a:solidFill>
                <a:effectLst/>
                <a:latin typeface="Plus Jakarta Sans"/>
              </a:rPr>
              <a:t>Cloud Web Dashboard</a:t>
            </a:r>
          </a:p>
          <a:p>
            <a:pPr algn="l"/>
            <a:r>
              <a:rPr lang="en-US" b="0" i="0" dirty="0">
                <a:solidFill>
                  <a:srgbClr val="475569"/>
                </a:solidFill>
                <a:effectLst/>
                <a:latin typeface="Plus Jakarta Sans"/>
              </a:rPr>
              <a:t>Develop a real-time web application enabling warehouse managers to upload inventory dumps and visualize layouts.</a:t>
            </a:r>
          </a:p>
        </p:txBody>
      </p: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671</Words>
  <Application>Microsoft Office PowerPoint</Application>
  <PresentationFormat>Widescreen</PresentationFormat>
  <Paragraphs>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Plus Jakarta Sans</vt:lpstr>
      <vt:lpstr>Times New Roman</vt:lpstr>
      <vt:lpstr>Office Theme</vt:lpstr>
      <vt:lpstr>       Data Structures and Algorithms -3 (25CS2103E)  Warehouse Slotting Optimizer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Sathwik Naidu</cp:lastModifiedBy>
  <cp:revision>21</cp:revision>
  <dcterms:created xsi:type="dcterms:W3CDTF">2024-08-29T05:25:00Z</dcterms:created>
  <dcterms:modified xsi:type="dcterms:W3CDTF">2026-09-02T08:54:16Z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