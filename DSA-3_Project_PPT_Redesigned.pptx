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c154cbf-c13f-a50f-2748-03343c75e1f3}">
          <p14:sldIdLst>
            <p14:sldId id="256"/>
          </p14:sldIdLst>
        </p14:section>
        <p14:section name="Overview" id="{19c8e21e-f924-20d1-632c-a5a789bbb5e6}">
          <p14:sldIdLst>
            <p14:sldId id="257"/>
            <p14:sldId id="258"/>
            <p14:sldId id="259"/>
          </p14:sldIdLst>
        </p14:section>
        <p14:section name="Background" id="{7dc3addd-cc2a-8c0a-da00-de24ef1f71a3}">
          <p14:sldIdLst>
            <p14:sldId id="260"/>
            <p14:sldId id="261"/>
          </p14:sldIdLst>
        </p14:section>
        <p14:section name="Method" id="{3960c075-8be1-6db6-a897-4395c203dcda}">
          <p14:sldIdLst>
            <p14:sldId id="262"/>
          </p14:sldIdLst>
        </p14:section>
        <p14:section name="Outcomes" id="{1cd14602-1f4d-72a5-60f0-af671a767516}">
          <p14:sldIdLst>
            <p14:sldId id="263"/>
          </p14:sldIdLst>
        </p14:section>
        <p14:section name="Requirements" id="{d55a8720-527e-63a9-de63-693f8d4b5607}">
          <p14:sldIdLst>
            <p14:sldId id="264"/>
          </p14:sldIdLst>
        </p14:section>
        <p14:section name="Closing" id="{ac5e3168-c416-5078-28db-e6a4669f8c03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_SLIDE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920240" cy="822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62494"/>
            <a:ext cx="1828800" cy="7837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Warehouse Slotting Optimizer  |  DSA-3 (25CS2103E)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-3  (25CS2103E)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Slotting Optimizer</a:t>
            </a:r>
            <a:endParaRPr lang="en-US" sz="5600" dirty="0"/>
          </a:p>
        </p:txBody>
      </p:sp>
      <p:sp>
        <p:nvSpPr>
          <p:cNvPr id="4" name="Team card"/>
          <p:cNvSpPr/>
          <p:nvPr/>
        </p:nvSpPr>
        <p:spPr>
          <a:xfrm>
            <a:off x="548640" y="4343400"/>
            <a:ext cx="384048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480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Sathwik Naidu: 2520080041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Kumar: 2520080034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Satyaram Manohar: 2520080023</a:t>
            </a:r>
            <a:endParaRPr lang="en-US" sz="1500" dirty="0"/>
          </a:p>
        </p:txBody>
      </p:sp>
      <p:sp>
        <p:nvSpPr>
          <p:cNvPr id="7" name="Guide card"/>
          <p:cNvSpPr/>
          <p:nvPr/>
        </p:nvSpPr>
        <p:spPr>
          <a:xfrm>
            <a:off x="4617720" y="4343400"/>
            <a:ext cx="384048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4480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DSA-3 faculty name with designation and department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3" name="Contents card 1"/>
          <p:cNvSpPr/>
          <p:nvPr/>
        </p:nvSpPr>
        <p:spPr>
          <a:xfrm>
            <a:off x="548640" y="16002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4" name="Number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</p:txBody>
      </p:sp>
      <p:sp>
        <p:nvSpPr>
          <p:cNvPr id="6" name="Contents card 2"/>
          <p:cNvSpPr/>
          <p:nvPr/>
        </p:nvSpPr>
        <p:spPr>
          <a:xfrm>
            <a:off x="6217920" y="16002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7" name="Number 2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600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9" name="Contents card 3"/>
          <p:cNvSpPr/>
          <p:nvPr/>
        </p:nvSpPr>
        <p:spPr>
          <a:xfrm>
            <a:off x="548640" y="27432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0" name="Number 3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743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000" dirty="0"/>
          </a:p>
        </p:txBody>
      </p:sp>
      <p:sp>
        <p:nvSpPr>
          <p:cNvPr id="12" name="Contents card 4"/>
          <p:cNvSpPr/>
          <p:nvPr/>
        </p:nvSpPr>
        <p:spPr>
          <a:xfrm>
            <a:off x="6217920" y="27432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3" name="Number 4"/>
          <p:cNvSpPr/>
          <p:nvPr/>
        </p:nvSpPr>
        <p:spPr>
          <a:xfrm>
            <a:off x="6446520" y="2926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743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2000" dirty="0"/>
          </a:p>
        </p:txBody>
      </p:sp>
      <p:sp>
        <p:nvSpPr>
          <p:cNvPr id="15" name="Contents card 5"/>
          <p:cNvSpPr/>
          <p:nvPr/>
        </p:nvSpPr>
        <p:spPr>
          <a:xfrm>
            <a:off x="548640" y="38862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6" name="Number 5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886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requirements</a:t>
            </a:r>
            <a:endParaRPr lang="en-US" sz="2000" dirty="0"/>
          </a:p>
        </p:txBody>
      </p:sp>
      <p:sp>
        <p:nvSpPr>
          <p:cNvPr id="18" name="Contents card 6"/>
          <p:cNvSpPr/>
          <p:nvPr/>
        </p:nvSpPr>
        <p:spPr>
          <a:xfrm>
            <a:off x="6217920" y="38862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9" name="Number 6"/>
          <p:cNvSpPr/>
          <p:nvPr/>
        </p:nvSpPr>
        <p:spPr>
          <a:xfrm>
            <a:off x="644652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3886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sp>
        <p:nvSpPr>
          <p:cNvPr id="21" name="Contents card 7"/>
          <p:cNvSpPr/>
          <p:nvPr/>
        </p:nvSpPr>
        <p:spPr>
          <a:xfrm>
            <a:off x="548640" y="50292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2" name="Number 7"/>
          <p:cNvSpPr/>
          <p:nvPr/>
        </p:nvSpPr>
        <p:spPr>
          <a:xfrm>
            <a:off x="777240" y="5212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029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24" name="Contents card 8"/>
          <p:cNvSpPr/>
          <p:nvPr/>
        </p:nvSpPr>
        <p:spPr>
          <a:xfrm>
            <a:off x="6217920" y="50292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5" name="Number 8"/>
          <p:cNvSpPr/>
          <p:nvPr/>
        </p:nvSpPr>
        <p:spPr>
          <a:xfrm>
            <a:off x="6446520" y="5212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5029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Abstract card 1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4" name="Number 01"/>
          <p:cNvSpPr/>
          <p:nvPr/>
        </p:nvSpPr>
        <p:spPr>
          <a:xfrm>
            <a:off x="822960" y="18562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8562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slotting is the systematic placement of inventory in optimal locations to minimize order picking times and travel costs.</a:t>
            </a:r>
            <a:endParaRPr lang="en-US" sz="1600" dirty="0"/>
          </a:p>
        </p:txBody>
      </p:sp>
      <p:sp>
        <p:nvSpPr>
          <p:cNvPr id="7" name="Abstract card 2"/>
          <p:cNvSpPr/>
          <p:nvPr/>
        </p:nvSpPr>
        <p:spPr>
          <a:xfrm>
            <a:off x="6217920" y="16002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8" name="Number 02"/>
          <p:cNvSpPr/>
          <p:nvPr/>
        </p:nvSpPr>
        <p:spPr>
          <a:xfrm>
            <a:off x="6492240" y="18562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8562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static layouts often result in high fulfillment latency and sub-optimal routing paths during peak warehouse activity.</a:t>
            </a:r>
            <a:endParaRPr lang="en-US" sz="1600" dirty="0"/>
          </a:p>
        </p:txBody>
      </p:sp>
      <p:sp>
        <p:nvSpPr>
          <p:cNvPr id="11" name="Abstract card 3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2" name="Number 03"/>
          <p:cNvSpPr/>
          <p:nvPr/>
        </p:nvSpPr>
        <p:spPr>
          <a:xfrm>
            <a:off x="822960" y="418795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187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an algorithmic solution utilizing graph models, priority queues, and heuristic placement strategies.</a:t>
            </a:r>
            <a:endParaRPr lang="en-US" sz="1600" dirty="0"/>
          </a:p>
        </p:txBody>
      </p:sp>
      <p:sp>
        <p:nvSpPr>
          <p:cNvPr id="15" name="Abstract card 4"/>
          <p:cNvSpPr/>
          <p:nvPr/>
        </p:nvSpPr>
        <p:spPr>
          <a:xfrm>
            <a:off x="6217920" y="39319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6" name="Number 04"/>
          <p:cNvSpPr/>
          <p:nvPr/>
        </p:nvSpPr>
        <p:spPr>
          <a:xfrm>
            <a:off x="6492240" y="418795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4187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846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results demonstrate a substantial reduction in total pick path travel distance and increased space utilization.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Challenge card"/>
          <p:cNvSpPr/>
          <p:nvPr/>
        </p:nvSpPr>
        <p:spPr>
          <a:xfrm>
            <a:off x="548640" y="1600200"/>
            <a:ext cx="4754880" cy="4572000"/>
          </a:xfrm>
          <a:prstGeom prst="roundRect">
            <a:avLst>
              <a:gd name="adj" fmla="val 24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Logistics Challenge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3192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picking operations account for up to 55% of total warehouse operational costs, making slotting optimization critical.</a:t>
            </a:r>
            <a:endParaRPr lang="en-US" sz="1700" dirty="0"/>
          </a:p>
        </p:txBody>
      </p:sp>
      <p:sp>
        <p:nvSpPr>
          <p:cNvPr id="7" name="Intro card 1"/>
          <p:cNvSpPr/>
          <p:nvPr/>
        </p:nvSpPr>
        <p:spPr>
          <a:xfrm>
            <a:off x="5532120" y="1600200"/>
            <a:ext cx="6080760" cy="2194560"/>
          </a:xfrm>
          <a:prstGeom prst="roundRect">
            <a:avLst>
              <a:gd name="adj" fmla="val 5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8" name="Proximity Routing bg"/>
          <p:cNvSpPr/>
          <p:nvPr/>
        </p:nvSpPr>
        <p:spPr>
          <a:xfrm>
            <a:off x="5852160" y="19659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oximity Rou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330" y="2183130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4088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Proximity Routing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24688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frequently requested SKUs closer to dispatch staging areas significantly cuts down transit times and operator fatigue.</a:t>
            </a:r>
            <a:endParaRPr lang="en-US" sz="1600" dirty="0"/>
          </a:p>
        </p:txBody>
      </p:sp>
      <p:sp>
        <p:nvSpPr>
          <p:cNvPr id="12" name="Intro card 2"/>
          <p:cNvSpPr/>
          <p:nvPr/>
        </p:nvSpPr>
        <p:spPr>
          <a:xfrm>
            <a:off x="5532120" y="3977640"/>
            <a:ext cx="6080760" cy="2194560"/>
          </a:xfrm>
          <a:prstGeom prst="roundRect">
            <a:avLst>
              <a:gd name="adj" fmla="val 5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3" name="DSA Application bg"/>
          <p:cNvSpPr/>
          <p:nvPr/>
        </p:nvSpPr>
        <p:spPr>
          <a:xfrm>
            <a:off x="5852160" y="43434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DSA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330" y="4560570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40880" y="4297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 Application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7040880" y="48463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efficient data structures like priority queues, hash tables, and graphs to dynamically handle layout computations.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400" dirty="0"/>
          </a:p>
        </p:txBody>
      </p:sp>
      <p:sp>
        <p:nvSpPr>
          <p:cNvPr id="3" name="Literature card 1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Tompkins et al.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Planning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that optimal stock allocation reduces material handling costs by up to 30%.</a:t>
            </a:r>
            <a:endParaRPr lang="en-US" sz="1600" dirty="0"/>
          </a:p>
        </p:txBody>
      </p:sp>
      <p:sp>
        <p:nvSpPr>
          <p:cNvPr id="7" name="Literature card 2"/>
          <p:cNvSpPr/>
          <p:nvPr/>
        </p:nvSpPr>
        <p:spPr>
          <a:xfrm>
            <a:off x="6217920" y="16002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Bartholdi &amp; Hackman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Distribution Science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class-based storage systems and frequency picking advantages.</a:t>
            </a:r>
            <a:endParaRPr lang="en-US" sz="1600" dirty="0"/>
          </a:p>
        </p:txBody>
      </p:sp>
      <p:sp>
        <p:nvSpPr>
          <p:cNvPr id="11" name="Literature card 3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Heuristics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00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genetic algorithms and greedy heuristics for solving NP-hard warehouse placement configurations.</a:t>
            </a:r>
            <a:endParaRPr lang="en-US" sz="1600" dirty="0"/>
          </a:p>
        </p:txBody>
      </p:sp>
      <p:sp>
        <p:nvSpPr>
          <p:cNvPr id="14" name="Literature card 4"/>
          <p:cNvSpPr/>
          <p:nvPr/>
        </p:nvSpPr>
        <p:spPr>
          <a:xfrm>
            <a:off x="6217920" y="39319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22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Identified Research Gap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800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dynamic updates combining seasonal demand curves with graph traversal restrictions.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4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600200"/>
            <a:ext cx="5212080" cy="4572000"/>
          </a:xfrm>
          <a:prstGeom prst="roundRect">
            <a:avLst>
              <a:gd name="adj" fmla="val 24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warehouse layout grid, SKU order frequencies, and dimensional specifications, compute an optimal slotting configuration that minimizes pick-path distance while respecting weight and rack capacity constraints.</a:t>
            </a:r>
            <a:endParaRPr lang="en-US" sz="1800" dirty="0"/>
          </a:p>
        </p:txBody>
      </p:sp>
      <p:sp>
        <p:nvSpPr>
          <p:cNvPr id="6" name="Objectives card"/>
          <p:cNvSpPr/>
          <p:nvPr/>
        </p:nvSpPr>
        <p:spPr>
          <a:xfrm>
            <a:off x="5989320" y="1600200"/>
            <a:ext cx="5623560" cy="4572000"/>
          </a:xfrm>
          <a:prstGeom prst="roundRect">
            <a:avLst>
              <a:gd name="adj" fmla="val 24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Objectives</a:t>
            </a:r>
            <a:endParaRPr lang="en-US" sz="2400" dirty="0"/>
          </a:p>
        </p:txBody>
      </p:sp>
      <p:sp>
        <p:nvSpPr>
          <p:cNvPr id="8" name="Number 1"/>
          <p:cNvSpPr/>
          <p:nvPr/>
        </p:nvSpPr>
        <p:spPr>
          <a:xfrm>
            <a:off x="6309360" y="2560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514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scalable graph-based warehouse layout model.</a:t>
            </a:r>
            <a:endParaRPr lang="en-US" sz="1700" dirty="0"/>
          </a:p>
        </p:txBody>
      </p:sp>
      <p:sp>
        <p:nvSpPr>
          <p:cNvPr id="10" name="Number 2"/>
          <p:cNvSpPr/>
          <p:nvPr/>
        </p:nvSpPr>
        <p:spPr>
          <a:xfrm>
            <a:off x="630936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34290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frequency-based prioritization algorithms.</a:t>
            </a:r>
            <a:endParaRPr lang="en-US" sz="1700" dirty="0"/>
          </a:p>
        </p:txBody>
      </p:sp>
      <p:sp>
        <p:nvSpPr>
          <p:cNvPr id="12" name="Number 3"/>
          <p:cNvSpPr/>
          <p:nvPr/>
        </p:nvSpPr>
        <p:spPr>
          <a:xfrm>
            <a:off x="630936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43434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cumulative retrieval distance.</a:t>
            </a:r>
            <a:endParaRPr lang="en-US" sz="1700" dirty="0"/>
          </a:p>
        </p:txBody>
      </p:sp>
      <p:sp>
        <p:nvSpPr>
          <p:cNvPr id="14" name="Number 4"/>
          <p:cNvSpPr/>
          <p:nvPr/>
        </p:nvSpPr>
        <p:spPr>
          <a:xfrm>
            <a:off x="6309360" y="5303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5257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automated performance visualizer tools.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Chart</a:t>
            </a:r>
            <a:endParaRPr lang="en-US" sz="3400" dirty="0"/>
          </a:p>
        </p:txBody>
      </p:sp>
      <p:sp>
        <p:nvSpPr>
          <p:cNvPr id="3" name="Flow card 1"/>
          <p:cNvSpPr/>
          <p:nvPr/>
        </p:nvSpPr>
        <p:spPr>
          <a:xfrm>
            <a:off x="608076" y="1828800"/>
            <a:ext cx="3246120" cy="3840480"/>
          </a:xfrm>
          <a:prstGeom prst="roundRect">
            <a:avLst>
              <a:gd name="adj" fmla="val 338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4" name="Data Ingestion bg"/>
          <p:cNvSpPr/>
          <p:nvPr/>
        </p:nvSpPr>
        <p:spPr>
          <a:xfrm>
            <a:off x="928116" y="21488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Data Ing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36601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28116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28116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28116" y="43891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SKU master records, historical order frequency logs, aisle topologies, and rack load capacities.</a:t>
            </a:r>
            <a:endParaRPr lang="en-US" sz="1500" dirty="0"/>
          </a:p>
        </p:txBody>
      </p:sp>
      <p:sp>
        <p:nvSpPr>
          <p:cNvPr id="9" name="Flow arrow 1"/>
          <p:cNvSpPr/>
          <p:nvPr/>
        </p:nvSpPr>
        <p:spPr>
          <a:xfrm>
            <a:off x="3918204" y="3566160"/>
            <a:ext cx="36576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Flow card 2"/>
          <p:cNvSpPr/>
          <p:nvPr/>
        </p:nvSpPr>
        <p:spPr>
          <a:xfrm>
            <a:off x="4402836" y="1828800"/>
            <a:ext cx="3246120" cy="3840480"/>
          </a:xfrm>
          <a:prstGeom prst="roundRect">
            <a:avLst>
              <a:gd name="adj" fmla="val 338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1" name="Algorithmic Processing bg"/>
          <p:cNvSpPr/>
          <p:nvPr/>
        </p:nvSpPr>
        <p:spPr>
          <a:xfrm>
            <a:off x="4722876" y="21488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Algorithmic Process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046" y="236601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22876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722876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Processing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722876" y="43891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items using priority sorting and graph routing to determine optimal rack bay locations.</a:t>
            </a:r>
            <a:endParaRPr lang="en-US" sz="1500" dirty="0"/>
          </a:p>
        </p:txBody>
      </p:sp>
      <p:sp>
        <p:nvSpPr>
          <p:cNvPr id="16" name="Flow arrow 2"/>
          <p:cNvSpPr/>
          <p:nvPr/>
        </p:nvSpPr>
        <p:spPr>
          <a:xfrm>
            <a:off x="7712964" y="3566160"/>
            <a:ext cx="36576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Flow card 3"/>
          <p:cNvSpPr/>
          <p:nvPr/>
        </p:nvSpPr>
        <p:spPr>
          <a:xfrm>
            <a:off x="8197596" y="1828800"/>
            <a:ext cx="3246120" cy="3840480"/>
          </a:xfrm>
          <a:prstGeom prst="roundRect">
            <a:avLst>
              <a:gd name="adj" fmla="val 338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8" name="Evaluation &amp; Output bg"/>
          <p:cNvSpPr/>
          <p:nvPr/>
        </p:nvSpPr>
        <p:spPr>
          <a:xfrm>
            <a:off x="8517636" y="21488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Evaluation &amp; Outpu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806" y="2366010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17636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517636" y="3566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Output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517636" y="43891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 distance savings and output optimized slotting configurations for floor pickers.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6002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28.4%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926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decrease in total picker travel distance across test simulations</a:t>
            </a:r>
            <a:endParaRPr lang="en-US" sz="1700" dirty="0"/>
          </a:p>
        </p:txBody>
      </p:sp>
      <p:sp>
        <p:nvSpPr>
          <p:cNvPr id="6" name="Stat card 2"/>
          <p:cNvSpPr/>
          <p:nvPr/>
        </p:nvSpPr>
        <p:spPr>
          <a:xfrm>
            <a:off x="6217920" y="16002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7373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926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order fulfillment time during peak simulated order waves</a:t>
            </a:r>
            <a:endParaRPr lang="en-US" sz="1700" dirty="0"/>
          </a:p>
        </p:txBody>
      </p:sp>
      <p:sp>
        <p:nvSpPr>
          <p:cNvPr id="9" name="Result card 1"/>
          <p:cNvSpPr/>
          <p:nvPr/>
        </p:nvSpPr>
        <p:spPr>
          <a:xfrm>
            <a:off x="548640" y="411480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0" name="Time Complexity bg"/>
          <p:cNvSpPr/>
          <p:nvPr/>
        </p:nvSpPr>
        <p:spPr>
          <a:xfrm>
            <a:off x="868680" y="4434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0" descr="Time Complex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61772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828800" y="4434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Complexity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303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and placement routines scale efficiently at O(N log N), where N is the SKU count.</a:t>
            </a:r>
            <a:endParaRPr lang="en-US" sz="1600" dirty="0"/>
          </a:p>
        </p:txBody>
      </p:sp>
      <p:sp>
        <p:nvSpPr>
          <p:cNvPr id="14" name="Result card 2"/>
          <p:cNvSpPr/>
          <p:nvPr/>
        </p:nvSpPr>
        <p:spPr>
          <a:xfrm>
            <a:off x="6217920" y="411480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5" name="Validation bg"/>
          <p:cNvSpPr/>
          <p:nvPr/>
        </p:nvSpPr>
        <p:spPr>
          <a:xfrm>
            <a:off x="6537960" y="4434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1" descr="Valid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61772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498080" y="4434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6537960" y="5303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successfully against randomized test datasets of varying grid configurations.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Software requirements</a:t>
            </a:r>
            <a:endParaRPr lang="en-US" sz="3400" dirty="0"/>
          </a:p>
        </p:txBody>
      </p:sp>
      <p:sp>
        <p:nvSpPr>
          <p:cNvPr id="3" name="Requirements card 1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4" name="Hardware Requirements bg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Hardware Requir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0231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Requirements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/ AMD Ryzen 5 or higher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77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 GB (16 GB Recommended)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available SSD space</a:t>
            </a:r>
            <a:endParaRPr lang="en-US" sz="1400" dirty="0"/>
          </a:p>
        </p:txBody>
      </p:sp>
      <p:sp>
        <p:nvSpPr>
          <p:cNvPr id="10" name="Requirements card 2"/>
          <p:cNvSpPr/>
          <p:nvPr/>
        </p:nvSpPr>
        <p:spPr>
          <a:xfrm>
            <a:off x="6217920" y="160020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1" name="Software Requirements bg"/>
          <p:cNvSpPr/>
          <p:nvPr/>
        </p:nvSpPr>
        <p:spPr>
          <a:xfrm>
            <a:off x="653796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Software Require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70" y="202311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/ C++17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977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NetworkX, Matplotlib, Pandas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Jupyter Notebook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Conclusion card 1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4" name="Check 1 bg"/>
          <p:cNvSpPr/>
          <p:nvPr/>
        </p:nvSpPr>
        <p:spPr>
          <a:xfrm>
            <a:off x="91440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0802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94560" y="1600200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and implemented a robust Warehouse Slotting Optimizer using core Data Structures and Algorithms principles.</a:t>
            </a:r>
            <a:endParaRPr lang="en-US" sz="1900" dirty="0"/>
          </a:p>
        </p:txBody>
      </p:sp>
      <p:sp>
        <p:nvSpPr>
          <p:cNvPr id="7" name="Conclusion card 2"/>
          <p:cNvSpPr/>
          <p:nvPr/>
        </p:nvSpPr>
        <p:spPr>
          <a:xfrm>
            <a:off x="548640" y="315468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8" name="Check 2 bg"/>
          <p:cNvSpPr/>
          <p:nvPr/>
        </p:nvSpPr>
        <p:spPr>
          <a:xfrm>
            <a:off x="914400" y="34290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36347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94560" y="3154680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significant reduction in fulfillment latency and overall travel distances.</a:t>
            </a:r>
            <a:endParaRPr lang="en-US" sz="1900" dirty="0"/>
          </a:p>
        </p:txBody>
      </p:sp>
      <p:sp>
        <p:nvSpPr>
          <p:cNvPr id="11" name="Conclusion card 3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2" name="Check 3 bg"/>
          <p:cNvSpPr/>
          <p:nvPr/>
        </p:nvSpPr>
        <p:spPr>
          <a:xfrm>
            <a:off x="914400" y="4983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51892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194560" y="4709160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bridged theoretical algorithmic concepts (priority queues, graph routing) with practical industrial logistics applications.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3657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Future card 1"/>
          <p:cNvSpPr/>
          <p:nvPr/>
        </p:nvSpPr>
        <p:spPr>
          <a:xfrm>
            <a:off x="548640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4" name="Machine Learning Forecasts bg"/>
          <p:cNvSpPr/>
          <p:nvPr/>
        </p:nvSpPr>
        <p:spPr>
          <a:xfrm>
            <a:off x="914400" y="19202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Machine Learning Foreca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Forecasts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02336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predictive demand forecasting using historical seasonality trends to auto-adjust slots weekly.</a:t>
            </a:r>
            <a:endParaRPr lang="en-US" sz="1600" dirty="0"/>
          </a:p>
        </p:txBody>
      </p:sp>
      <p:sp>
        <p:nvSpPr>
          <p:cNvPr id="8" name="Future card 2"/>
          <p:cNvSpPr/>
          <p:nvPr/>
        </p:nvSpPr>
        <p:spPr>
          <a:xfrm>
            <a:off x="4297680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9" name="AGV Pathfinding bg"/>
          <p:cNvSpPr/>
          <p:nvPr/>
        </p:nvSpPr>
        <p:spPr>
          <a:xfrm>
            <a:off x="4663440" y="19202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AGV Pathfin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48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AGV Pathfinding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402336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optimizer to support Autonomous Mobile Robots (AMRs) and automated robotic crane routing constraints.</a:t>
            </a:r>
            <a:endParaRPr lang="en-US" sz="1600" dirty="0"/>
          </a:p>
        </p:txBody>
      </p:sp>
      <p:sp>
        <p:nvSpPr>
          <p:cNvPr id="13" name="Future card 3"/>
          <p:cNvSpPr/>
          <p:nvPr/>
        </p:nvSpPr>
        <p:spPr>
          <a:xfrm>
            <a:off x="8046720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1">
              <a:alpha val="9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4" name="Cloud Web Dashboard bg"/>
          <p:cNvSpPr/>
          <p:nvPr/>
        </p:nvSpPr>
        <p:spPr>
          <a:xfrm>
            <a:off x="8412480" y="19202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Cloud Web Dash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1488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Web Dashboard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402336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real-time web application enabling warehouse managers to upload inventory dumps and visualize layouts.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Slotting Optimizer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ehouse Slotting">
  <a:themeElements>
    <a:clrScheme name="Warehouse Slotting">
      <a:dk1>
        <a:srgbClr val="0B1220"/>
      </a:dk1>
      <a:lt1>
        <a:srgbClr val="FFFFFF"/>
      </a:lt1>
      <a:dk2>
        <a:srgbClr val="1B2540"/>
      </a:dk2>
      <a:lt2>
        <a:srgbClr val="C9D1E3"/>
      </a:lt2>
      <a:accent1>
        <a:srgbClr val="E03A4A"/>
      </a:accent1>
      <a:accent2>
        <a:srgbClr val="F5B83D"/>
      </a:accent2>
      <a:accent3>
        <a:srgbClr val="3FB8AF"/>
      </a:accent3>
      <a:accent4>
        <a:srgbClr val="5B8DEF"/>
      </a:accent4>
      <a:accent5>
        <a:srgbClr val="BA2532"/>
      </a:accent5>
      <a:accent6>
        <a:srgbClr val="8E9AB5"/>
      </a:accent6>
      <a:hlink>
        <a:srgbClr val="5B8DEF"/>
      </a:hlink>
      <a:folHlink>
        <a:srgbClr val="8E9AB5"/>
      </a:folHlink>
    </a:clrScheme>
    <a:fontScheme name="Warehouse Slott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Slotting Optimizer</dc:title>
  <dc:subject>PptxGenJS Presentation</dc:subject>
  <dc:creator>PptxGenJS</dc:creator>
  <cp:lastModifiedBy>PptxGenJS</cp:lastModifiedBy>
  <cp:revision>1</cp:revision>
  <dcterms:created xsi:type="dcterms:W3CDTF">2026-10-12T05:50:05Z</dcterms:created>
  <dcterms:modified xsi:type="dcterms:W3CDTF">2026-10-12T05:50:05Z</dcterms:modified>
</cp:coreProperties>
</file>